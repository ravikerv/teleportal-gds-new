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2377440"/>
            <a:ext cx="6858000" cy="6858000"/>
          </a:xfrm>
          <a:prstGeom prst="ellipse">
            <a:avLst/>
          </a:prstGeom>
          <a:solidFill>
            <a:srgbClr val="510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1280160"/>
            <a:ext cx="4206240" cy="4206240"/>
          </a:xfrm>
          <a:prstGeom prst="ellipse">
            <a:avLst/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kerv</a:t>
            </a:r>
            <a:r>
              <a:rPr sz="1300" b="0">
                <a:solidFill>
                  <a:srgbClr val="9292A8"/>
                </a:solidFill>
                <a:latin typeface="Arial"/>
              </a:rPr>
              <a:t>  digital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98755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TelePortal </a:t>
            </a:r>
            <a:r>
              <a:rPr sz="5200" b="1">
                <a:solidFill>
                  <a:srgbClr val="B2F22B"/>
                </a:solidFill>
                <a:latin typeface="Arial"/>
              </a:rPr>
              <a:t>GDS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D9DBEB"/>
                </a:solidFill>
                <a:latin typeface="Arial"/>
              </a:rPr>
              <a:t>Schema-driven citizen journeys — designed visually, rendered on GOV.UK,
ready for any design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Ravi Kumar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292A8"/>
                </a:solidFill>
                <a:latin typeface="Arial"/>
              </a:rPr>
              <a:t>Lunch &amp; Learn briefing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457200" cy="82296"/>
          </a:xfrm>
          <a:prstGeom prst="rect">
            <a:avLst/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2F22B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Every service rebuilds the same journey by 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292A8"/>
                </a:solidFill>
                <a:latin typeface="Arial"/>
              </a:rPr>
              <a:t>Public-sector digital forms follow well-known GDS patterns — yet each delivery starts from scratch.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520440" cy="3291840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82296" cy="3291840"/>
          </a:xfrm>
          <a:prstGeom prst="roundRect">
            <a:avLst>
              <a:gd name="adj" fmla="val 5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Slow to deliver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31089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A multi-page “Apply for X” journey typically takes a full squad several sprints.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Question pages, branching, check-your-answers, task lists — all hand-coded every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240280"/>
            <a:ext cx="3520440" cy="3291840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240280"/>
            <a:ext cx="82296" cy="3291840"/>
          </a:xfrm>
          <a:prstGeom prst="roundRect">
            <a:avLst>
              <a:gd name="adj" fmla="val 50000"/>
            </a:avLst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0487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Expensive to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07208"/>
            <a:ext cx="31089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A single new question touches routing, validation, summary and tests.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Content and policy changes queue behind developer capacity.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240280"/>
            <a:ext cx="3520440" cy="3291840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2240280"/>
            <a:ext cx="82296" cy="3291840"/>
          </a:xfrm>
          <a:prstGeom prst="roundRect">
            <a:avLst>
              <a:gd name="adj" fmla="val 5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40487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Locked to one look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807208"/>
            <a:ext cx="31089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Journeys are welded to one design system.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Winning a non-GOV.UK client (NHS, local gov, private) means a rebuild, not a reskin.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kerv</a:t>
            </a:r>
            <a:r>
              <a:rPr sz="1100" b="0">
                <a:solidFill>
                  <a:srgbClr val="9292A8"/>
                </a:solidFill>
                <a:latin typeface="Arial"/>
              </a:rPr>
              <a:t>  |  TelePortal GDS — Lunch &amp; 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292A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457200" cy="82296"/>
          </a:xfrm>
          <a:prstGeom prst="rect">
            <a:avLst/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2F22B"/>
                </a:solidFill>
                <a:latin typeface="Arial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TelePortal GDS — the journey is data, not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292A8"/>
                </a:solidFill>
                <a:latin typeface="Arial"/>
              </a:rPr>
              <a:t>An entire journey is a small set of JSON schemas. A rendering engine turns them into a live, GDS-compliant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6035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B2F22B"/>
                </a:solidFill>
                <a:latin typeface="Arial"/>
              </a:rPr>
              <a:t>▸  </a:t>
            </a:r>
            <a:r>
              <a:rPr sz="1450" b="1">
                <a:solidFill>
                  <a:srgbClr val="FFFFFF"/>
                </a:solidFill>
                <a:latin typeface="Arial"/>
              </a:rPr>
              <a:t>JSON in, service out — </a:t>
            </a:r>
            <a:r>
              <a:rPr sz="1450" b="0">
                <a:solidFill>
                  <a:srgbClr val="D9DBEB"/>
                </a:solidFill>
                <a:latin typeface="Arial"/>
              </a:rPr>
              <a:t>form, summary, task-list and confirmation schemas fully describe a journey — pages, fields, branching, validation.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B2F22B"/>
                </a:solidFill>
                <a:latin typeface="Arial"/>
              </a:rPr>
              <a:t>▸  </a:t>
            </a:r>
            <a:r>
              <a:rPr sz="1450" b="1">
                <a:solidFill>
                  <a:srgbClr val="FFFFFF"/>
                </a:solidFill>
                <a:latin typeface="Arial"/>
              </a:rPr>
              <a:t>Server-side React engine — </a:t>
            </a:r>
            <a:r>
              <a:rPr sz="1450" b="0">
                <a:solidFill>
                  <a:srgbClr val="D9DBEB"/>
                </a:solidFill>
                <a:latin typeface="Arial"/>
              </a:rPr>
              <a:t>renders the schemas with GOV.UK components; no client-side JavaScript required — accessible by default.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B2F22B"/>
                </a:solidFill>
                <a:latin typeface="Arial"/>
              </a:rPr>
              <a:t>▸  </a:t>
            </a:r>
            <a:r>
              <a:rPr sz="1450" b="1">
                <a:solidFill>
                  <a:srgbClr val="FFFFFF"/>
                </a:solidFill>
                <a:latin typeface="Arial"/>
              </a:rPr>
              <a:t>Utils middleware — </a:t>
            </a:r>
            <a:r>
              <a:rPr sz="1450" b="0">
                <a:solidFill>
                  <a:srgbClr val="D9DBEB"/>
                </a:solidFill>
                <a:latin typeface="Arial"/>
              </a:rPr>
              <a:t>answer storage, routing tokens, Azure Blob persistence with per-journey sync.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B2F22B"/>
                </a:solidFill>
                <a:latin typeface="Arial"/>
              </a:rPr>
              <a:t>▸  </a:t>
            </a:r>
            <a:r>
              <a:rPr sz="1450" b="1">
                <a:solidFill>
                  <a:srgbClr val="FFFFFF"/>
                </a:solidFill>
                <a:latin typeface="Arial"/>
              </a:rPr>
              <a:t>Wrappers-only design — </a:t>
            </a:r>
            <a:r>
              <a:rPr sz="1450" b="0">
                <a:solidFill>
                  <a:srgbClr val="D9DBEB"/>
                </a:solidFill>
                <a:latin typeface="Arial"/>
              </a:rPr>
              <a:t>thin wrappers over GOV.UK Frontend keep us upgrade-safe and pattern-compliant.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194560"/>
            <a:ext cx="4480560" cy="3794760"/>
          </a:xfrm>
          <a:prstGeom prst="roundRect">
            <a:avLst>
              <a:gd name="adj" fmla="val 50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237744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2F22B"/>
                </a:solidFill>
                <a:latin typeface="Arial"/>
              </a:rPr>
              <a:t>THE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834640"/>
            <a:ext cx="3931920" cy="502920"/>
          </a:xfrm>
          <a:prstGeom prst="roundRect">
            <a:avLst>
              <a:gd name="adj" fmla="val 3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JSON schemas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27355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2F22B"/>
                </a:solidFill>
                <a:latin typeface="Arial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566160"/>
            <a:ext cx="3931920" cy="502920"/>
          </a:xfrm>
          <a:prstGeom prst="roundRect">
            <a:avLst>
              <a:gd name="adj" fmla="val 30000"/>
            </a:avLst>
          </a:prstGeom>
          <a:solidFill>
            <a:srgbClr val="510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Rendering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00507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2F22B"/>
                </a:solidFill>
                <a:latin typeface="Arial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97680"/>
            <a:ext cx="3931920" cy="502920"/>
          </a:xfrm>
          <a:prstGeom prst="roundRect">
            <a:avLst>
              <a:gd name="adj" fmla="val 3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Design-system adapter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73659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2F22B"/>
                </a:solidFill>
                <a:latin typeface="Arial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5029200"/>
            <a:ext cx="3931920" cy="502920"/>
          </a:xfrm>
          <a:prstGeom prst="roundRect">
            <a:avLst>
              <a:gd name="adj" fmla="val 30000"/>
            </a:avLst>
          </a:prstGeom>
          <a:solidFill>
            <a:srgbClr val="510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Live GDS journey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kerv</a:t>
            </a:r>
            <a:r>
              <a:rPr sz="1100" b="0">
                <a:solidFill>
                  <a:srgbClr val="9292A8"/>
                </a:solidFill>
                <a:latin typeface="Arial"/>
              </a:rPr>
              <a:t>  |  TelePortal GDS — Lunch &amp; 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292A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457200" cy="82296"/>
          </a:xfrm>
          <a:prstGeom prst="rect">
            <a:avLst/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2F22B"/>
                </a:solidFill>
                <a:latin typeface="Arial"/>
              </a:rPr>
              <a:t>TWO WAYS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Write the JSON — or draw the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292A8"/>
                </a:solidFill>
                <a:latin typeface="Arial"/>
              </a:rPr>
              <a:t>The same schemas power both routes, so teams can mix and match.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5349240" cy="3749039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82296" cy="3749039"/>
          </a:xfrm>
          <a:prstGeom prst="roundRect">
            <a:avLst>
              <a:gd name="adj" fmla="val 5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Route 1 · Standalone JSON  (developer)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4937760" cy="3017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Author the four schema files directly in any editor.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Version-controlled, reviewable, diff-able like any code.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Perfect for CI pipelines and templated journeys.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Zero tooling required — the engine is the 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94560"/>
            <a:ext cx="5349240" cy="3749039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194560"/>
            <a:ext cx="82296" cy="3749039"/>
          </a:xfrm>
          <a:prstGeom prst="roundRect">
            <a:avLst>
              <a:gd name="adj" fmla="val 50000"/>
            </a:avLst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5915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Route 2 · Journey Builder  (BA / designer)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61488"/>
            <a:ext cx="4937760" cy="3017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Visual drag-and-drop canvas built on React Flow.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Add form pages, wire branching, edit fields — no code.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One-click tidy layout, undo/redo, live validation badges.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Exports exactly the JSON that Route 1 would hand-write.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B2F22B"/>
                </a:solidFill>
                <a:latin typeface="Arial"/>
              </a:rPr>
              <a:t>Same output, two audiences </a:t>
            </a:r>
            <a:r>
              <a:rPr sz="1400" b="0">
                <a:solidFill>
                  <a:srgbClr val="D9DBEB"/>
                </a:solidFill>
                <a:latin typeface="Arial"/>
              </a:rPr>
              <a:t>— a developer and a BA can work on the same journey interchangeably.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kerv</a:t>
            </a:r>
            <a:r>
              <a:rPr sz="1100" b="0">
                <a:solidFill>
                  <a:srgbClr val="9292A8"/>
                </a:solidFill>
                <a:latin typeface="Arial"/>
              </a:rPr>
              <a:t>  |  TelePortal GDS — Lunch &amp; 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292A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457200" cy="82296"/>
          </a:xfrm>
          <a:prstGeom prst="rect">
            <a:avLst/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2F22B"/>
                </a:solidFill>
                <a:latin typeface="Arial"/>
              </a:rPr>
              <a:t>JOURNEY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 visual studio for journeys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292A8"/>
                </a:solidFill>
                <a:latin typeface="Arial"/>
              </a:rPr>
              <a:t>Built with React Flow 12 — evaluated against alternatives and chosen for polish, a11y and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5349240" cy="1170432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Interactive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49377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D9DBEB"/>
                </a:solidFill>
                <a:latin typeface="Arial"/>
              </a:rPr>
              <a:t>custom-designed nodes for forms, hubs, summaries and task lists, with helper lines and snap-to-grid.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94560"/>
            <a:ext cx="5349240" cy="1170432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194560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5915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Add pages visually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61488"/>
            <a:ext cx="49377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D9DBEB"/>
                </a:solidFill>
                <a:latin typeface="Arial"/>
              </a:rPr>
              <a:t>create and edit form pages, fields and validation from the canvas — no JSON editing.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93008"/>
            <a:ext cx="5349240" cy="1170432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493008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Master journey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59936"/>
            <a:ext cx="49377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D9DBEB"/>
                </a:solidFill>
                <a:latin typeface="Arial"/>
              </a:rPr>
              <a:t>one big picture of how every journey stitches into the whole application.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493008"/>
            <a:ext cx="5349240" cy="1170432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493008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Auto-tidy layout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59936"/>
            <a:ext cx="49377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D9DBEB"/>
                </a:solidFill>
                <a:latin typeface="Arial"/>
              </a:rPr>
              <a:t>dagre-powered one-click arrangement of any tangle.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791456"/>
            <a:ext cx="5349240" cy="1170432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791456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5604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Undo / redo everywhere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58384"/>
            <a:ext cx="49377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D9DBEB"/>
                </a:solidFill>
                <a:latin typeface="Arial"/>
              </a:rPr>
              <a:t>every change is reversible — including AI imports.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791456"/>
            <a:ext cx="5349240" cy="1170432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4791456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95604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Import /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358384"/>
            <a:ext cx="49377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D9DBEB"/>
                </a:solidFill>
                <a:latin typeface="Arial"/>
              </a:rPr>
              <a:t>round-trips folders and zips of the schema bundle with drift detection.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kerv</a:t>
            </a:r>
            <a:r>
              <a:rPr sz="1100" b="0">
                <a:solidFill>
                  <a:srgbClr val="9292A8"/>
                </a:solidFill>
                <a:latin typeface="Arial"/>
              </a:rPr>
              <a:t>  |  TelePortal GDS — Lunch &amp; 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292A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457200" cy="82296"/>
          </a:xfrm>
          <a:prstGeom prst="rect">
            <a:avLst/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2F22B"/>
                </a:solidFill>
                <a:latin typeface="Arial"/>
              </a:rPr>
              <a:t>END-TO-END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Walk the whole journey before a line of code 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292A8"/>
                </a:solidFill>
                <a:latin typeface="Arial"/>
              </a:rPr>
              <a:t>The Preview button opens the full master journey in a new tab — every page, every branch,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943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B2F22B"/>
                </a:solidFill>
                <a:latin typeface="Arial"/>
              </a:rPr>
              <a:t>▸  </a:t>
            </a:r>
            <a:r>
              <a:rPr sz="1450" b="1">
                <a:solidFill>
                  <a:srgbClr val="FFFFFF"/>
                </a:solidFill>
                <a:latin typeface="Arial"/>
              </a:rPr>
              <a:t>Full walkthrough — </a:t>
            </a:r>
            <a:r>
              <a:rPr sz="1450" b="0">
                <a:solidFill>
                  <a:srgbClr val="D9DBEB"/>
                </a:solidFill>
                <a:latin typeface="Arial"/>
              </a:rPr>
              <a:t>task list → question pages → branching → check-your-answers → confirmation.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B2F22B"/>
                </a:solidFill>
                <a:latin typeface="Arial"/>
              </a:rPr>
              <a:t>▸  </a:t>
            </a:r>
            <a:r>
              <a:rPr sz="1450" b="1">
                <a:solidFill>
                  <a:srgbClr val="FFFFFF"/>
                </a:solidFill>
                <a:latin typeface="Arial"/>
              </a:rPr>
              <a:t>Real branching logic — </a:t>
            </a:r>
            <a:r>
              <a:rPr sz="1450" b="0">
                <a:solidFill>
                  <a:srgbClr val="D9DBEB"/>
                </a:solidFill>
                <a:latin typeface="Arial"/>
              </a:rPr>
              <a:t>conditional routes react to the answers you give, exactly as production will.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B2F22B"/>
                </a:solidFill>
                <a:latin typeface="Arial"/>
              </a:rPr>
              <a:t>▸  </a:t>
            </a:r>
            <a:r>
              <a:rPr sz="1450" b="1">
                <a:solidFill>
                  <a:srgbClr val="FFFFFF"/>
                </a:solidFill>
                <a:latin typeface="Arial"/>
              </a:rPr>
              <a:t>Framework-grade correctness — </a:t>
            </a:r>
            <a:r>
              <a:rPr sz="1450" b="0">
                <a:solidFill>
                  <a:srgbClr val="D9DBEB"/>
                </a:solidFill>
                <a:latin typeface="Arial"/>
              </a:rPr>
              <a:t>changing an answer clears the abandoned branch's stale values — fixed once, in the engine, not patched in the preview.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B2F22B"/>
                </a:solidFill>
                <a:latin typeface="Arial"/>
              </a:rPr>
              <a:t>▸  </a:t>
            </a:r>
            <a:r>
              <a:rPr sz="1450" b="1">
                <a:solidFill>
                  <a:srgbClr val="FFFFFF"/>
                </a:solidFill>
                <a:latin typeface="Arial"/>
              </a:rPr>
              <a:t>Instant feedback loop — </a:t>
            </a:r>
            <a:r>
              <a:rPr sz="1450" b="0">
                <a:solidFill>
                  <a:srgbClr val="D9DBEB"/>
                </a:solidFill>
                <a:latin typeface="Arial"/>
              </a:rPr>
              <a:t>BAs validate the journey with stakeholders the same day it is designed.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240280"/>
            <a:ext cx="4480560" cy="3657600"/>
          </a:xfrm>
          <a:prstGeom prst="roundRect">
            <a:avLst>
              <a:gd name="adj" fmla="val 5000"/>
            </a:avLst>
          </a:prstGeom>
          <a:solidFill>
            <a:srgbClr val="510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2514600"/>
            <a:ext cx="40233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Found &amp; fixed at framework level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D9DBEB"/>
                </a:solidFill>
                <a:latin typeface="Arial"/>
              </a:rPr>
              <a:t>Two real bugs surfaced during preview — a blank summary answer and stale values after switching a branch. Both were fixed in the rendering engine itself, so every journey benefits, not just the demo.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kerv</a:t>
            </a:r>
            <a:r>
              <a:rPr sz="1100" b="0">
                <a:solidFill>
                  <a:srgbClr val="9292A8"/>
                </a:solidFill>
                <a:latin typeface="Arial"/>
              </a:rPr>
              <a:t>  |  TelePortal GDS — Lunch &amp; 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292A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457200" cy="82296"/>
          </a:xfrm>
          <a:prstGeom prst="rect">
            <a:avLst/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2F22B"/>
                </a:solidFill>
                <a:latin typeface="Arial"/>
              </a:rPr>
              <a:t>ANY DESIGN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GOV.UK today. NHS tomorrow. Anyone after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292A8"/>
                </a:solidFill>
                <a:latin typeface="Arial"/>
              </a:rPr>
              <a:t>The engine never touches a classname — a design-system adapter supplies every component and token.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5349240" cy="2377440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82296" cy="2377440"/>
          </a:xfrm>
          <a:prstGeom prst="roundRect">
            <a:avLst>
              <a:gd name="adj" fmla="val 5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An adapter = 15 component slots + a token set.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The engine asks the registry for the active adapter at render time.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Swapping systems is configuration, not a rewrite.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94560"/>
            <a:ext cx="5349240" cy="2377440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194560"/>
            <a:ext cx="82296" cy="2377440"/>
          </a:xfrm>
          <a:prstGeom prst="roundRect">
            <a:avLst>
              <a:gd name="adj" fmla="val 50000"/>
            </a:avLst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5915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Proven with NHS.UK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61488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A complete NHS.UK adapter ships as the working example.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The Journey Builder preview has a live switcher — same journey, GOV.UK or NHS styling, one dropdown.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9204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B2F22B"/>
                </a:solidFill>
                <a:latin typeface="Arial"/>
              </a:rPr>
              <a:t>The sales answer to “but we're not central government” </a:t>
            </a:r>
            <a:r>
              <a:rPr sz="1500" b="0">
                <a:solidFill>
                  <a:srgbClr val="D9DBEB"/>
                </a:solidFill>
                <a:latin typeface="Arial"/>
              </a:rPr>
              <a:t>— a new client's design system is one adapter away, and every existing journey instantly renders in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kerv</a:t>
            </a:r>
            <a:r>
              <a:rPr sz="1100" b="0">
                <a:solidFill>
                  <a:srgbClr val="9292A8"/>
                </a:solidFill>
                <a:latin typeface="Arial"/>
              </a:rPr>
              <a:t>  |  TelePortal GDS — Lunch &amp; 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292A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457200" cy="82296"/>
          </a:xfrm>
          <a:prstGeom prst="rect">
            <a:avLst/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2F22B"/>
                </a:solidFill>
                <a:latin typeface="Arial"/>
              </a:rPr>
              <a:t>AI-ASSISTED DESIGN 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From a Mural board to a working journey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292A8"/>
                </a:solidFill>
                <a:latin typeface="Arial"/>
              </a:rPr>
              <a:t>A BA sketches the journey in Mural — AI turns it into validated schemas on the Journey Builder canvas.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2615184" cy="2286000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203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1 · Design in Mural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220370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D9DBEB"/>
                </a:solidFill>
                <a:latin typeface="Arial"/>
              </a:rPr>
              <a:t>BA lays out frames and arrows using a simple, documented convention.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2194560"/>
            <a:ext cx="2615184" cy="2286000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56432" y="219456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2359152"/>
            <a:ext cx="2203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2 · AI generates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761488"/>
            <a:ext cx="220370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D9DBEB"/>
                </a:solidFill>
                <a:latin typeface="Arial"/>
              </a:rPr>
              <a:t>Claude reads the board via Mural's MCP server and produces the full schema bundle.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2194560"/>
            <a:ext cx="2615184" cy="2286000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7064" y="219456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59152"/>
            <a:ext cx="2203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3 · Auto-validation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761488"/>
            <a:ext cx="220370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D9DBEB"/>
                </a:solidFill>
                <a:latin typeface="Arial"/>
              </a:rPr>
              <a:t>every route, branch and reference is checked; the model self-repairs any errors.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2194560"/>
            <a:ext cx="2615184" cy="2286000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97696" y="219456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6" y="2359152"/>
            <a:ext cx="2203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4 · Human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2761488"/>
            <a:ext cx="220370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D9DBEB"/>
                </a:solidFill>
                <a:latin typeface="Arial"/>
              </a:rPr>
              <a:t>assumptions are surfaced in the builder; Apply is one click — and one undo.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0060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B2F22B"/>
                </a:solidFill>
                <a:latin typeface="Arial"/>
              </a:rPr>
              <a:t>Vendor-independent by design </a:t>
            </a:r>
            <a:r>
              <a:rPr sz="1450" b="0">
                <a:solidFill>
                  <a:srgbClr val="D9DBEB"/>
                </a:solidFill>
                <a:latin typeface="Arial"/>
              </a:rPr>
              <a:t>— the LLM sits behind a provider interface: Claude today, GitHub Models or any OpenAI-compatible endpoint tomorrow, with a mock provider for keyless demos.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kerv</a:t>
            </a:r>
            <a:r>
              <a:rPr sz="1100" b="0">
                <a:solidFill>
                  <a:srgbClr val="9292A8"/>
                </a:solidFill>
                <a:latin typeface="Arial"/>
              </a:rPr>
              <a:t>  |  TelePortal GDS — Lunch &amp; 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292A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457200" cy="82296"/>
          </a:xfrm>
          <a:prstGeom prst="rect">
            <a:avLst/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2F22B"/>
                </a:solidFill>
                <a:latin typeface="Arial"/>
              </a:rPr>
              <a:t>THE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Why this wins deals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292A8"/>
                </a:solidFill>
                <a:latin typeface="Arial"/>
              </a:rPr>
              <a:t>A credible, demonstrable accelerator for public-sector (and beyond) service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3520440" cy="3566160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82296" cy="3566160"/>
          </a:xfrm>
          <a:prstGeom prst="roundRect">
            <a:avLst>
              <a:gd name="adj" fmla="val 50000"/>
            </a:avLst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Days, not sprints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31089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One or two people stand up a complete journey in days.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The engine already handles validation, routing, summaries and GDS patterns.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Fixed-price bids get dramatically safer.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94560"/>
            <a:ext cx="3520440" cy="3566160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82296" cy="3566160"/>
          </a:xfrm>
          <a:prstGeom prst="roundRect">
            <a:avLst>
              <a:gd name="adj" fmla="val 5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591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Compliant by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61488"/>
            <a:ext cx="31089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GOV.UK Design System patterns out of the box.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Server-side rendering — fast and accessible without client JS.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Familiar, trusted UX for citizens from page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94560"/>
            <a:ext cx="3520440" cy="3566160"/>
          </a:xfrm>
          <a:prstGeom prst="roundRect">
            <a:avLst>
              <a:gd name="adj" fmla="val 55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2194560"/>
            <a:ext cx="82296" cy="3566160"/>
          </a:xfrm>
          <a:prstGeom prst="roundRect">
            <a:avLst>
              <a:gd name="adj" fmla="val 50000"/>
            </a:avLst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3591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One asset, many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61488"/>
            <a:ext cx="31089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Reusable across departments and sectors via design-system adapters.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BA-led delivery frees scarce engineering capacity.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D9DBEB"/>
                </a:solidFill>
                <a:latin typeface="Arial"/>
              </a:rPr>
              <a:t>AI import compresses discovery-to-demo to a single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kerv</a:t>
            </a:r>
            <a:r>
              <a:rPr sz="1100" b="0">
                <a:solidFill>
                  <a:srgbClr val="9292A8"/>
                </a:solidFill>
                <a:latin typeface="Arial"/>
              </a:rPr>
              <a:t>  |  TelePortal GDS — Lunch &amp; 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292A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457200" cy="82296"/>
          </a:xfrm>
          <a:prstGeom prst="rect">
            <a:avLst/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2F22B"/>
                </a:solidFill>
                <a:latin typeface="Arial"/>
              </a:rPr>
              <a:t>ENGINEERING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Not a prototype — an engineered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292A8"/>
                </a:solidFill>
                <a:latin typeface="Arial"/>
              </a:rPr>
              <a:t>Every feature landed with tests, type-safety and browser-driven end-to-end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2615184" cy="1737360"/>
          </a:xfrm>
          <a:prstGeom prst="roundRect">
            <a:avLst>
              <a:gd name="adj" fmla="val 60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615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B2F22B"/>
                </a:solidFill>
                <a:latin typeface="Arial"/>
              </a:rPr>
              <a:t>86+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3408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D9DBEB"/>
                </a:solidFill>
                <a:latin typeface="Arial"/>
              </a:rPr>
              <a:t>automated tests across engine,
builder and AI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240280"/>
            <a:ext cx="2615184" cy="1737360"/>
          </a:xfrm>
          <a:prstGeom prst="roundRect">
            <a:avLst>
              <a:gd name="adj" fmla="val 60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2468880"/>
            <a:ext cx="2615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B2F22B"/>
                </a:solidFill>
                <a:latin typeface="Arial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3200400"/>
            <a:ext cx="23408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D9DBEB"/>
                </a:solidFill>
                <a:latin typeface="Arial"/>
              </a:rPr>
              <a:t>component slots per
design-system adapter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40280"/>
            <a:ext cx="2615184" cy="1737360"/>
          </a:xfrm>
          <a:prstGeom prst="roundRect">
            <a:avLst>
              <a:gd name="adj" fmla="val 60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2468880"/>
            <a:ext cx="2615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B2F22B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200400"/>
            <a:ext cx="23408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D9DBEB"/>
                </a:solidFill>
                <a:latin typeface="Arial"/>
              </a:rPr>
              <a:t>design systems live today
(GOV.UK + NHS.UK)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2240280"/>
            <a:ext cx="2615184" cy="1737360"/>
          </a:xfrm>
          <a:prstGeom prst="roundRect">
            <a:avLst>
              <a:gd name="adj" fmla="val 6000"/>
            </a:avLst>
          </a:prstGeom>
          <a:solidFill>
            <a:srgbClr val="22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2468880"/>
            <a:ext cx="2615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B2F22B"/>
                </a:solidFill>
                <a:latin typeface="Arial"/>
              </a:rPr>
              <a:t>1 click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3200400"/>
            <a:ext cx="234086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D9DBEB"/>
                </a:solidFill>
                <a:latin typeface="Arial"/>
              </a:rPr>
              <a:t>from Mural board to
reviewable journey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B2F22B"/>
                </a:solidFill>
                <a:latin typeface="Arial"/>
              </a:rPr>
              <a:t>▸  </a:t>
            </a:r>
            <a:r>
              <a:rPr sz="1400" b="1">
                <a:solidFill>
                  <a:srgbClr val="FFFFFF"/>
                </a:solidFill>
                <a:latin typeface="Arial"/>
              </a:rPr>
              <a:t>Verified in a real browser — </a:t>
            </a:r>
            <a:r>
              <a:rPr sz="1400" b="0">
                <a:solidFill>
                  <a:srgbClr val="D9DBEB"/>
                </a:solidFill>
                <a:latin typeface="Arial"/>
              </a:rPr>
              <a:t>every visual feature is exercised end-to-end with automated browser runs, screenshots included.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B2F22B"/>
                </a:solidFill>
                <a:latin typeface="Arial"/>
              </a:rPr>
              <a:t>▸  </a:t>
            </a:r>
            <a:r>
              <a:rPr sz="1400" b="1">
                <a:solidFill>
                  <a:srgbClr val="FFFFFF"/>
                </a:solidFill>
                <a:latin typeface="Arial"/>
              </a:rPr>
              <a:t>Framework-level fixes — </a:t>
            </a:r>
            <a:r>
              <a:rPr sz="1400" b="0">
                <a:solidFill>
                  <a:srgbClr val="D9DBEB"/>
                </a:solidFill>
                <a:latin typeface="Arial"/>
              </a:rPr>
              <a:t>bugs found in demos were fixed in the engine, with regression tests, so they stay fixed for every journey.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kerv</a:t>
            </a:r>
            <a:r>
              <a:rPr sz="1100" b="0">
                <a:solidFill>
                  <a:srgbClr val="9292A8"/>
                </a:solidFill>
                <a:latin typeface="Arial"/>
              </a:rPr>
              <a:t>  |  TelePortal GDS — Lunch &amp; 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292A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457200" cy="82296"/>
          </a:xfrm>
          <a:prstGeom prst="rect">
            <a:avLst/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2F22B"/>
                </a:solidFill>
                <a:latin typeface="Arial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71A2B"/>
                </a:solidFill>
                <a:latin typeface="Arial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304288"/>
            <a:ext cx="9235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D9DBEB"/>
                </a:solidFill>
                <a:latin typeface="Arial"/>
              </a:rPr>
              <a:t>Live pilot of the Mural → AI → Builder flow against a real board and Claude credentials.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2900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47288"/>
            <a:ext cx="9235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D9DBEB"/>
                </a:solidFill>
                <a:latin typeface="Arial"/>
              </a:rPr>
              <a:t>Conversational refinement — “add a phone number page after contact details” — and board re-sync with diffing.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57200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510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590288"/>
            <a:ext cx="9235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D9DBEB"/>
                </a:solidFill>
                <a:latin typeface="Arial"/>
              </a:rPr>
              <a:t>More design-system adapters on client demand; theming and dark mode; deeper analytics on journey drop-off.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kerv</a:t>
            </a:r>
            <a:r>
              <a:rPr sz="1100" b="0">
                <a:solidFill>
                  <a:srgbClr val="9292A8"/>
                </a:solidFill>
                <a:latin typeface="Arial"/>
              </a:rPr>
              <a:t>  |  TelePortal GDS — Lunch &amp; 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292A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0" y="3474720"/>
            <a:ext cx="6583680" cy="6583680"/>
          </a:xfrm>
          <a:prstGeom prst="ellipse">
            <a:avLst/>
          </a:prstGeom>
          <a:solidFill>
            <a:srgbClr val="510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754880"/>
            <a:ext cx="4023360" cy="4023360"/>
          </a:xfrm>
          <a:prstGeom prst="ellipse">
            <a:avLst/>
          </a:prstGeom>
          <a:solidFill>
            <a:srgbClr val="721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2F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Let's build journeys in </a:t>
            </a:r>
            <a:r>
              <a:rPr sz="4000" b="1">
                <a:solidFill>
                  <a:srgbClr val="B2F22B"/>
                </a:solidFill>
                <a:latin typeface="Arial"/>
              </a:rPr>
              <a:t>days</a:t>
            </a:r>
            <a:r>
              <a:rPr sz="4000" b="1">
                <a:solidFill>
                  <a:srgbClr val="FFFFFF"/>
                </a:solidFill>
                <a:latin typeface="Arial"/>
              </a:rPr>
              <a:t>, not sprints.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D9DBEB"/>
                </a:solidFill>
                <a:latin typeface="Arial"/>
              </a:rPr>
              <a:t>Live demo: standalone JSON  ·  Journey Builder  ·  design-system switcher  ·  AI 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B2F22B"/>
                </a:solidFill>
                <a:latin typeface="Arial"/>
              </a:rPr>
              <a:t>Questions &amp; demo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9DBEB"/>
                </a:solidFill>
                <a:latin typeface="Arial"/>
              </a:rPr>
              <a:t>Ravi Kumar  ·  csr.ravi@gmail.com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kerv</a:t>
            </a:r>
            <a:r>
              <a:rPr sz="1100" b="0">
                <a:solidFill>
                  <a:srgbClr val="9292A8"/>
                </a:solidFill>
                <a:latin typeface="Arial"/>
              </a:rPr>
              <a:t>  |  TelePortal GDS — Lunch &amp; 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292A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